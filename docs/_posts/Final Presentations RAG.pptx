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4hpeYoIPSAqULdNR9TrAS7hdg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18a5f925a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518a5f925a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18a5f925a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518a5f925a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18a5f925a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518a5f925a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18a5f925a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518a5f925a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hyperlink" Target="https://arxiv.org/abs/2406.11424" TargetMode="External"/><Relationship Id="rId5" Type="http://schemas.openxmlformats.org/officeDocument/2006/relationships/hyperlink" Target="https://arxiv.org/abs/2005.11401" TargetMode="External"/><Relationship Id="rId6" Type="http://schemas.openxmlformats.org/officeDocument/2006/relationships/hyperlink" Target="https://www.mdpi.com/2076-3417/14/17/7995" TargetMode="External"/><Relationship Id="rId7" Type="http://schemas.openxmlformats.org/officeDocument/2006/relationships/hyperlink" Target="https://arxiv.org/abs/2409.03708" TargetMode="External"/><Relationship Id="rId8" Type="http://schemas.openxmlformats.org/officeDocument/2006/relationships/hyperlink" Target="https://arxiv.org/abs/2411.19710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761999" y="1024040"/>
            <a:ext cx="10668001" cy="2404960"/>
          </a:xfrm>
          <a:prstGeom prst="rect">
            <a:avLst/>
          </a:prstGeom>
          <a:solidFill>
            <a:srgbClr val="2D714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RAG Question-Answer Implementation </a:t>
            </a:r>
            <a:br>
              <a:rPr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0" y="5928100"/>
            <a:ext cx="2978700" cy="930000"/>
          </a:xfrm>
          <a:prstGeom prst="rect">
            <a:avLst/>
          </a:prstGeom>
          <a:solidFill>
            <a:srgbClr val="2D714C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Presented by :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Lohith Sasanapuri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Pavan Kumar Sanjay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icon&#10;&#10;Description automatically generated" id="90" name="Google Shape;9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8556" y="5694556"/>
            <a:ext cx="1163444" cy="1163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/>
          <p:nvPr>
            <p:ph idx="1" type="body"/>
          </p:nvPr>
        </p:nvSpPr>
        <p:spPr>
          <a:xfrm>
            <a:off x="1300315" y="1282827"/>
            <a:ext cx="8541775" cy="4872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164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2D714C"/>
              </a:buClr>
              <a:buSzPts val="3040"/>
              <a:buChar char="•"/>
            </a:pPr>
            <a:r>
              <a:rPr lang="en-US" sz="3600">
                <a:solidFill>
                  <a:srgbClr val="2D714C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3600">
              <a:solidFill>
                <a:srgbClr val="2D714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2164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2D714C"/>
              </a:buClr>
              <a:buSzPts val="3040"/>
              <a:buChar char="•"/>
            </a:pPr>
            <a:r>
              <a:rPr lang="en-US" sz="3600">
                <a:solidFill>
                  <a:srgbClr val="2D714C"/>
                </a:solidFill>
                <a:latin typeface="Calibri"/>
                <a:ea typeface="Calibri"/>
                <a:cs typeface="Calibri"/>
                <a:sym typeface="Calibri"/>
              </a:rPr>
              <a:t>Architecture of the system</a:t>
            </a:r>
            <a:endParaRPr sz="100"/>
          </a:p>
          <a:p>
            <a:pPr indent="-42164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2D714C"/>
              </a:buClr>
              <a:buSzPts val="3040"/>
              <a:buChar char="•"/>
            </a:pPr>
            <a:r>
              <a:rPr lang="en-US" sz="3600">
                <a:solidFill>
                  <a:srgbClr val="2D714C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100"/>
          </a:p>
          <a:p>
            <a:pPr indent="-42164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2D714C"/>
              </a:buClr>
              <a:buSzPts val="3040"/>
              <a:buChar char="•"/>
            </a:pPr>
            <a:r>
              <a:rPr lang="en-US" sz="3600">
                <a:solidFill>
                  <a:srgbClr val="2D714C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r>
              <a:rPr lang="en-US" sz="3600">
                <a:solidFill>
                  <a:srgbClr val="2D714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"/>
          </a:p>
          <a:p>
            <a:pPr indent="-42164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2D714C"/>
              </a:buClr>
              <a:buSzPts val="3040"/>
              <a:buChar char="•"/>
            </a:pPr>
            <a:r>
              <a:rPr lang="en-US" sz="3600">
                <a:solidFill>
                  <a:srgbClr val="2D714C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100"/>
          </a:p>
          <a:p>
            <a:pPr indent="-42164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2D714C"/>
              </a:buClr>
              <a:buSzPts val="3040"/>
              <a:buChar char="•"/>
            </a:pPr>
            <a:r>
              <a:rPr lang="en-US" sz="3600">
                <a:solidFill>
                  <a:srgbClr val="2D714C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sz="100"/>
          </a:p>
          <a:p>
            <a:pPr indent="-2286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40"/>
              <a:buNone/>
            </a:pPr>
            <a:r>
              <a:t/>
            </a:r>
            <a:endParaRPr sz="1960"/>
          </a:p>
        </p:txBody>
      </p:sp>
      <p:sp>
        <p:nvSpPr>
          <p:cNvPr id="96" name="Google Shape;96;p6"/>
          <p:cNvSpPr/>
          <p:nvPr/>
        </p:nvSpPr>
        <p:spPr>
          <a:xfrm>
            <a:off x="0" y="0"/>
            <a:ext cx="1016000" cy="6858000"/>
          </a:xfrm>
          <a:prstGeom prst="rect">
            <a:avLst/>
          </a:prstGeom>
          <a:solidFill>
            <a:srgbClr val="2D714C"/>
          </a:solidFill>
          <a:ln cap="flat" cmpd="sng" w="19050">
            <a:solidFill>
              <a:srgbClr val="2D714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, icon&#10;&#10;Description automatically generated" id="97" name="Google Shape;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8556" y="5694556"/>
            <a:ext cx="1163444" cy="116344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 txBox="1"/>
          <p:nvPr/>
        </p:nvSpPr>
        <p:spPr>
          <a:xfrm>
            <a:off x="1425677" y="540774"/>
            <a:ext cx="1037303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D714C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icon&#10;&#10;Description automatically generated" id="103" name="Google Shape;1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8556" y="5694556"/>
            <a:ext cx="1163444" cy="116344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7"/>
          <p:cNvSpPr/>
          <p:nvPr/>
        </p:nvSpPr>
        <p:spPr>
          <a:xfrm>
            <a:off x="-1" y="0"/>
            <a:ext cx="12192001" cy="776748"/>
          </a:xfrm>
          <a:prstGeom prst="rect">
            <a:avLst/>
          </a:prstGeom>
          <a:solidFill>
            <a:srgbClr val="2D714C"/>
          </a:solidFill>
          <a:ln cap="flat" cmpd="sng" w="19050">
            <a:solidFill>
              <a:srgbClr val="2D714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116225" y="1089725"/>
            <a:ext cx="11274900" cy="3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Traditional chatbots often </a:t>
            </a:r>
            <a:r>
              <a:rPr b="1" lang="en-US" sz="1600">
                <a:solidFill>
                  <a:schemeClr val="dk1"/>
                </a:solidFill>
              </a:rPr>
              <a:t>struggle with dynamic or unseen queries</a:t>
            </a:r>
            <a:r>
              <a:rPr lang="en-US" sz="1600">
                <a:solidFill>
                  <a:schemeClr val="dk1"/>
                </a:solidFill>
              </a:rPr>
              <a:t>, especially when: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The </a:t>
            </a:r>
            <a:r>
              <a:rPr b="1" lang="en-US" sz="1600">
                <a:solidFill>
                  <a:schemeClr val="dk1"/>
                </a:solidFill>
              </a:rPr>
              <a:t>user's question isn’t present</a:t>
            </a:r>
            <a:r>
              <a:rPr lang="en-US" sz="1600">
                <a:solidFill>
                  <a:schemeClr val="dk1"/>
                </a:solidFill>
              </a:rPr>
              <a:t> in the predefined question bank.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It fails in in the generation of context relevant and fact-based text when queries are not stored in the chatbot database or are too ambiguous.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With the rise of </a:t>
            </a:r>
            <a:r>
              <a:rPr b="1" lang="en-US" sz="1600">
                <a:solidFill>
                  <a:schemeClr val="dk1"/>
                </a:solidFill>
              </a:rPr>
              <a:t>Large Language Models (LLMs)</a:t>
            </a:r>
            <a:r>
              <a:rPr lang="en-US" sz="1600">
                <a:solidFill>
                  <a:schemeClr val="dk1"/>
                </a:solidFill>
              </a:rPr>
              <a:t>, chatbots can now move beyond static response systems </a:t>
            </a:r>
            <a:r>
              <a:rPr b="1" lang="en-US" sz="1600">
                <a:solidFill>
                  <a:schemeClr val="dk1"/>
                </a:solidFill>
              </a:rPr>
              <a:t>RAG Framework</a:t>
            </a:r>
            <a:r>
              <a:rPr lang="en-US" sz="1600">
                <a:solidFill>
                  <a:schemeClr val="dk1"/>
                </a:solidFill>
              </a:rPr>
              <a:t> introduces two powerful components: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Retriever</a:t>
            </a:r>
            <a:r>
              <a:rPr lang="en-US" sz="1600">
                <a:solidFill>
                  <a:schemeClr val="dk1"/>
                </a:solidFill>
              </a:rPr>
              <a:t>: Dynamically fetches </a:t>
            </a:r>
            <a:r>
              <a:rPr b="1" lang="en-US" sz="1600">
                <a:solidFill>
                  <a:schemeClr val="dk1"/>
                </a:solidFill>
              </a:rPr>
              <a:t>relevant context</a:t>
            </a:r>
            <a:r>
              <a:rPr lang="en-US" sz="1600">
                <a:solidFill>
                  <a:schemeClr val="dk1"/>
                </a:solidFill>
              </a:rPr>
              <a:t> from a document or knowledge base in real time.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Generator</a:t>
            </a:r>
            <a:r>
              <a:rPr lang="en-US" sz="1600">
                <a:solidFill>
                  <a:schemeClr val="dk1"/>
                </a:solidFill>
              </a:rPr>
              <a:t>: Uses the retrieved context to </a:t>
            </a:r>
            <a:r>
              <a:rPr b="1" lang="en-US" sz="1600">
                <a:solidFill>
                  <a:schemeClr val="dk1"/>
                </a:solidFill>
              </a:rPr>
              <a:t>generate fact-based, curated </a:t>
            </a:r>
            <a:r>
              <a:rPr lang="en-US" sz="1600">
                <a:solidFill>
                  <a:schemeClr val="dk1"/>
                </a:solidFill>
              </a:rPr>
              <a:t> and </a:t>
            </a:r>
            <a:r>
              <a:rPr b="1" lang="en-US" sz="1600">
                <a:solidFill>
                  <a:schemeClr val="dk1"/>
                </a:solidFill>
              </a:rPr>
              <a:t>latest responses</a:t>
            </a:r>
            <a:r>
              <a:rPr lang="en-US" sz="1600">
                <a:solidFill>
                  <a:schemeClr val="dk1"/>
                </a:solidFill>
              </a:rPr>
              <a:t> tailored to the user’s query.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This  approach enables </a:t>
            </a:r>
            <a:r>
              <a:rPr b="1" lang="en-US" sz="1600">
                <a:solidFill>
                  <a:schemeClr val="dk1"/>
                </a:solidFill>
              </a:rPr>
              <a:t>more intelligent, context-aware, and scalable</a:t>
            </a:r>
            <a:r>
              <a:rPr lang="en-US" sz="1600">
                <a:solidFill>
                  <a:schemeClr val="dk1"/>
                </a:solidFill>
              </a:rPr>
              <a:t> chatbot solutions.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icon&#10;&#10;Description automatically generated" id="110" name="Google Shape;110;g3518a5f925a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8556" y="5694556"/>
            <a:ext cx="1163444" cy="116344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518a5f925a_0_20"/>
          <p:cNvSpPr/>
          <p:nvPr/>
        </p:nvSpPr>
        <p:spPr>
          <a:xfrm>
            <a:off x="-1" y="0"/>
            <a:ext cx="12192000" cy="776700"/>
          </a:xfrm>
          <a:prstGeom prst="rect">
            <a:avLst/>
          </a:prstGeom>
          <a:solidFill>
            <a:srgbClr val="2D714C"/>
          </a:solidFill>
          <a:ln cap="flat" cmpd="sng" w="19050">
            <a:solidFill>
              <a:srgbClr val="2D714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518a5f925a_0_20"/>
          <p:cNvSpPr txBox="1"/>
          <p:nvPr/>
        </p:nvSpPr>
        <p:spPr>
          <a:xfrm>
            <a:off x="116225" y="1089725"/>
            <a:ext cx="11274900" cy="3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Objective</a:t>
            </a:r>
            <a:r>
              <a:rPr lang="en-US" sz="1600">
                <a:solidFill>
                  <a:schemeClr val="dk1"/>
                </a:solidFill>
              </a:rPr>
              <a:t>:</a:t>
            </a:r>
            <a:br>
              <a:rPr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Develop a </a:t>
            </a:r>
            <a:r>
              <a:rPr b="1" lang="en-US" sz="1600">
                <a:solidFill>
                  <a:schemeClr val="dk1"/>
                </a:solidFill>
              </a:rPr>
              <a:t>lightweight, easy-to-deploy chatbot</a:t>
            </a:r>
            <a:r>
              <a:rPr lang="en-US" sz="1600">
                <a:solidFill>
                  <a:schemeClr val="dk1"/>
                </a:solidFill>
              </a:rPr>
              <a:t> using a </a:t>
            </a:r>
            <a:r>
              <a:rPr b="1" lang="en-US" sz="1600">
                <a:solidFill>
                  <a:schemeClr val="dk1"/>
                </a:solidFill>
              </a:rPr>
              <a:t>RAG (Retrieval-Augmented Generation)</a:t>
            </a:r>
            <a:r>
              <a:rPr lang="en-US" sz="1600">
                <a:solidFill>
                  <a:schemeClr val="dk1"/>
                </a:solidFill>
              </a:rPr>
              <a:t> architecture to answer domain-specific queries.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Initial Use Case</a:t>
            </a:r>
            <a:r>
              <a:rPr lang="en-US" sz="1600">
                <a:solidFill>
                  <a:schemeClr val="dk1"/>
                </a:solidFill>
              </a:rPr>
              <a:t>:</a:t>
            </a:r>
            <a:br>
              <a:rPr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Designed to support </a:t>
            </a:r>
            <a:r>
              <a:rPr b="1" lang="en-US" sz="1600">
                <a:solidFill>
                  <a:schemeClr val="dk1"/>
                </a:solidFill>
              </a:rPr>
              <a:t>course-based Q&amp;A</a:t>
            </a:r>
            <a:r>
              <a:rPr lang="en-US" sz="1600">
                <a:solidFill>
                  <a:schemeClr val="dk1"/>
                </a:solidFill>
              </a:rPr>
              <a:t>, especially around NLP modules, by leveraging class material as the knowledge base.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Current Dataset</a:t>
            </a:r>
            <a:r>
              <a:rPr lang="en-US" sz="1600">
                <a:solidFill>
                  <a:schemeClr val="dk1"/>
                </a:solidFill>
              </a:rPr>
              <a:t>:</a:t>
            </a:r>
            <a:br>
              <a:rPr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Switched to the </a:t>
            </a:r>
            <a:r>
              <a:rPr b="1" lang="en-US" sz="1600">
                <a:solidFill>
                  <a:schemeClr val="dk1"/>
                </a:solidFill>
              </a:rPr>
              <a:t>MS MARCO dataset</a:t>
            </a:r>
            <a:r>
              <a:rPr lang="en-US" sz="1600">
                <a:solidFill>
                  <a:schemeClr val="dk1"/>
                </a:solidFill>
              </a:rPr>
              <a:t> temporarily due to preprocessing issues with course material.</a:t>
            </a:r>
            <a:br>
              <a:rPr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This ensures the </a:t>
            </a:r>
            <a:r>
              <a:rPr b="1" lang="en-US" sz="1600">
                <a:solidFill>
                  <a:schemeClr val="dk1"/>
                </a:solidFill>
              </a:rPr>
              <a:t>main RAG pipeline remains functional and testable</a:t>
            </a:r>
            <a:r>
              <a:rPr lang="en-US" sz="1600">
                <a:solidFill>
                  <a:schemeClr val="dk1"/>
                </a:solidFill>
              </a:rPr>
              <a:t>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Deployment Plan</a:t>
            </a:r>
            <a:r>
              <a:rPr lang="en-US" sz="1600">
                <a:solidFill>
                  <a:schemeClr val="dk1"/>
                </a:solidFill>
              </a:rPr>
              <a:t>:</a:t>
            </a:r>
            <a:br>
              <a:rPr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Package the system with a </a:t>
            </a:r>
            <a:r>
              <a:rPr b="1" lang="en-US" sz="1600">
                <a:solidFill>
                  <a:schemeClr val="dk1"/>
                </a:solidFill>
              </a:rPr>
              <a:t>Flask-based API</a:t>
            </a:r>
            <a:r>
              <a:rPr lang="en-US" sz="1600">
                <a:solidFill>
                  <a:schemeClr val="dk1"/>
                </a:solidFill>
              </a:rPr>
              <a:t> for smooth integration, minimal setup, and user-friendly deployment.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icon&#10;&#10;Description automatically generated" id="117" name="Google Shape;1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8556" y="5694556"/>
            <a:ext cx="1163444" cy="116344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8"/>
          <p:cNvSpPr/>
          <p:nvPr/>
        </p:nvSpPr>
        <p:spPr>
          <a:xfrm>
            <a:off x="-1" y="0"/>
            <a:ext cx="12192001" cy="776748"/>
          </a:xfrm>
          <a:prstGeom prst="rect">
            <a:avLst/>
          </a:prstGeom>
          <a:solidFill>
            <a:srgbClr val="2D714C"/>
          </a:solidFill>
          <a:ln cap="flat" cmpd="sng" w="19050">
            <a:solidFill>
              <a:srgbClr val="2D714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875" y="2556500"/>
            <a:ext cx="10374726" cy="390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8"/>
          <p:cNvSpPr txBox="1"/>
          <p:nvPr/>
        </p:nvSpPr>
        <p:spPr>
          <a:xfrm>
            <a:off x="116225" y="944425"/>
            <a:ext cx="11972400" cy="21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Our architecture utilizes parametric memory which is a pre-trained seq2seq model and the non-parametric memory is a dense vector index.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This architecture can be used either as a token based RAG or a sequence based RAG.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We have decided to use it as a sequence based RAG in this project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icon&#10;&#10;Description automatically generated" id="125" name="Google Shape;1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8556" y="5694556"/>
            <a:ext cx="1163444" cy="116344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9"/>
          <p:cNvSpPr/>
          <p:nvPr/>
        </p:nvSpPr>
        <p:spPr>
          <a:xfrm>
            <a:off x="-1" y="0"/>
            <a:ext cx="12192001" cy="776748"/>
          </a:xfrm>
          <a:prstGeom prst="rect">
            <a:avLst/>
          </a:prstGeom>
          <a:solidFill>
            <a:srgbClr val="2D714C"/>
          </a:solidFill>
          <a:ln cap="flat" cmpd="sng" w="19050">
            <a:solidFill>
              <a:srgbClr val="2D714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Dataset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261525" y="1002550"/>
            <a:ext cx="11783700" cy="44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Dataset Used</a:t>
            </a:r>
            <a:r>
              <a:rPr lang="en-US" sz="1600">
                <a:solidFill>
                  <a:schemeClr val="dk1"/>
                </a:solidFill>
              </a:rPr>
              <a:t>:</a:t>
            </a:r>
            <a:br>
              <a:rPr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</a:t>
            </a:r>
            <a:r>
              <a:rPr b="1" lang="en-US" sz="1600">
                <a:solidFill>
                  <a:schemeClr val="dk1"/>
                </a:solidFill>
              </a:rPr>
              <a:t>MS MARCO (Microsoft MAchine Reading COmprehension)</a:t>
            </a:r>
            <a:r>
              <a:rPr lang="en-US" sz="1600">
                <a:solidFill>
                  <a:schemeClr val="dk1"/>
                </a:solidFill>
              </a:rPr>
              <a:t> – an open-source dataset widely used in RAG systems.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Contains ~80,000 </a:t>
            </a:r>
            <a:r>
              <a:rPr b="1" lang="en-US" sz="1600">
                <a:solidFill>
                  <a:schemeClr val="dk1"/>
                </a:solidFill>
              </a:rPr>
              <a:t>question-answer pairs</a:t>
            </a:r>
            <a:r>
              <a:rPr lang="en-US" sz="1600">
                <a:solidFill>
                  <a:schemeClr val="dk1"/>
                </a:solidFill>
              </a:rPr>
              <a:t> with corresponding </a:t>
            </a:r>
            <a:r>
              <a:rPr b="1" lang="en-US" sz="1600">
                <a:solidFill>
                  <a:schemeClr val="dk1"/>
                </a:solidFill>
              </a:rPr>
              <a:t>passages and context</a:t>
            </a:r>
            <a:r>
              <a:rPr lang="en-US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Purpose</a:t>
            </a:r>
            <a:r>
              <a:rPr lang="en-US" sz="1600">
                <a:solidFill>
                  <a:schemeClr val="dk1"/>
                </a:solidFill>
              </a:rPr>
              <a:t>:</a:t>
            </a:r>
            <a:br>
              <a:rPr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Used during the </a:t>
            </a:r>
            <a:r>
              <a:rPr b="1" lang="en-US" sz="1600">
                <a:solidFill>
                  <a:schemeClr val="dk1"/>
                </a:solidFill>
              </a:rPr>
              <a:t>preprocessing stage</a:t>
            </a:r>
            <a:r>
              <a:rPr lang="en-US" sz="1600">
                <a:solidFill>
                  <a:schemeClr val="dk1"/>
                </a:solidFill>
              </a:rPr>
              <a:t> to test and validate the functionality of the RAG pipeline.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Preprocessing Tools</a:t>
            </a:r>
            <a:r>
              <a:rPr lang="en-US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Employed the </a:t>
            </a:r>
            <a:r>
              <a:rPr b="1" lang="en-US" sz="1600">
                <a:solidFill>
                  <a:schemeClr val="dk1"/>
                </a:solidFill>
              </a:rPr>
              <a:t>Jensim library</a:t>
            </a:r>
            <a:r>
              <a:rPr lang="en-US" sz="1600">
                <a:solidFill>
                  <a:schemeClr val="dk1"/>
                </a:solidFill>
              </a:rPr>
              <a:t> for tokenization and embedding generation.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Processed data was stored in a </a:t>
            </a:r>
            <a:r>
              <a:rPr b="1" lang="en-US" sz="1600">
                <a:solidFill>
                  <a:schemeClr val="dk1"/>
                </a:solidFill>
              </a:rPr>
              <a:t>FAISS vector database</a:t>
            </a:r>
            <a:r>
              <a:rPr lang="en-US" sz="1600">
                <a:solidFill>
                  <a:schemeClr val="dk1"/>
                </a:solidFill>
              </a:rPr>
              <a:t> for efficient semantic retrieval.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Course Material Integration</a:t>
            </a:r>
            <a:r>
              <a:rPr lang="en-US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Attempted to apply the </a:t>
            </a:r>
            <a:r>
              <a:rPr b="1" lang="en-US" sz="1600">
                <a:solidFill>
                  <a:schemeClr val="dk1"/>
                </a:solidFill>
              </a:rPr>
              <a:t>same pipeline</a:t>
            </a:r>
            <a:r>
              <a:rPr lang="en-US" sz="1600">
                <a:solidFill>
                  <a:schemeClr val="dk1"/>
                </a:solidFill>
              </a:rPr>
              <a:t> to course documents.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Encountered issues related to </a:t>
            </a:r>
            <a:r>
              <a:rPr b="1" lang="en-US" sz="1600">
                <a:solidFill>
                  <a:schemeClr val="dk1"/>
                </a:solidFill>
              </a:rPr>
              <a:t>data formatting</a:t>
            </a:r>
            <a:r>
              <a:rPr lang="en-US" sz="1600">
                <a:solidFill>
                  <a:schemeClr val="dk1"/>
                </a:solidFill>
              </a:rPr>
              <a:t>, </a:t>
            </a:r>
            <a:r>
              <a:rPr b="1" lang="en-US" sz="1600">
                <a:solidFill>
                  <a:schemeClr val="dk1"/>
                </a:solidFill>
              </a:rPr>
              <a:t>inconsistent structure</a:t>
            </a:r>
            <a:r>
              <a:rPr lang="en-US" sz="1600">
                <a:solidFill>
                  <a:schemeClr val="dk1"/>
                </a:solidFill>
              </a:rPr>
              <a:t>, and the presence of </a:t>
            </a:r>
            <a:r>
              <a:rPr b="1" lang="en-US" sz="1600">
                <a:solidFill>
                  <a:schemeClr val="dk1"/>
                </a:solidFill>
              </a:rPr>
              <a:t>special characters</a:t>
            </a:r>
            <a:r>
              <a:rPr lang="en-US" sz="1600">
                <a:solidFill>
                  <a:schemeClr val="dk1"/>
                </a:solidFill>
              </a:rPr>
              <a:t>, which impacted processing quality.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icon&#10;&#10;Description automatically generated" id="132" name="Google Shape;132;g3518a5f925a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8556" y="5694556"/>
            <a:ext cx="1163444" cy="116344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518a5f925a_0_50"/>
          <p:cNvSpPr/>
          <p:nvPr/>
        </p:nvSpPr>
        <p:spPr>
          <a:xfrm>
            <a:off x="-1" y="0"/>
            <a:ext cx="12192000" cy="776700"/>
          </a:xfrm>
          <a:prstGeom prst="rect">
            <a:avLst/>
          </a:prstGeom>
          <a:solidFill>
            <a:srgbClr val="2D714C"/>
          </a:solidFill>
          <a:ln cap="flat" cmpd="sng" w="19050">
            <a:solidFill>
              <a:srgbClr val="2D714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Metrics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518a5f925a_0_50"/>
          <p:cNvSpPr txBox="1"/>
          <p:nvPr/>
        </p:nvSpPr>
        <p:spPr>
          <a:xfrm>
            <a:off x="188875" y="1075200"/>
            <a:ext cx="11696400" cy="45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ROUGE-l: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( Recall-Oriented Understudy for Gisting Evaluation) as our metric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This will be used in measuring  Longest Common Subsequence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Example:</a:t>
            </a:r>
            <a:endParaRPr b="1"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Reference Text: </a:t>
            </a:r>
            <a:r>
              <a:rPr lang="en-US" sz="1600">
                <a:solidFill>
                  <a:schemeClr val="dk1"/>
                </a:solidFill>
              </a:rPr>
              <a:t>"the cat sat on the mat" (6 words)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Candidate Text: </a:t>
            </a:r>
            <a:r>
              <a:rPr lang="en-US" sz="1600">
                <a:solidFill>
                  <a:schemeClr val="dk1"/>
                </a:solidFill>
              </a:rPr>
              <a:t>"the fluffy cat sat comfortably on the rug" (7 words)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35" name="Google Shape;135;g3518a5f925a_0_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875" y="2375425"/>
            <a:ext cx="10987075" cy="148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icon&#10;&#10;Description automatically generated" id="140" name="Google Shape;140;g3518a5f925a_0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8556" y="5694556"/>
            <a:ext cx="1163444" cy="116344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518a5f925a_0_37"/>
          <p:cNvSpPr/>
          <p:nvPr/>
        </p:nvSpPr>
        <p:spPr>
          <a:xfrm>
            <a:off x="-1" y="0"/>
            <a:ext cx="12192000" cy="776700"/>
          </a:xfrm>
          <a:prstGeom prst="rect">
            <a:avLst/>
          </a:prstGeom>
          <a:solidFill>
            <a:srgbClr val="2D714C"/>
          </a:solidFill>
          <a:ln cap="flat" cmpd="sng" w="19050">
            <a:solidFill>
              <a:srgbClr val="2D714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g3518a5f925a_0_37"/>
          <p:cNvPicPr preferRelativeResize="0"/>
          <p:nvPr/>
        </p:nvPicPr>
        <p:blipFill rotWithShape="1">
          <a:blip r:embed="rId4">
            <a:alphaModFix/>
          </a:blip>
          <a:srcRect b="0" l="0" r="0" t="77400"/>
          <a:stretch/>
        </p:blipFill>
        <p:spPr>
          <a:xfrm>
            <a:off x="386563" y="3703025"/>
            <a:ext cx="11418876" cy="7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518a5f925a_0_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132525"/>
            <a:ext cx="11887201" cy="1107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icon&#10;&#10;Description automatically generated" id="148" name="Google Shape;148;g3518a5f925a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8556" y="5694556"/>
            <a:ext cx="1163444" cy="116344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518a5f925a_0_11"/>
          <p:cNvSpPr/>
          <p:nvPr/>
        </p:nvSpPr>
        <p:spPr>
          <a:xfrm>
            <a:off x="-1" y="0"/>
            <a:ext cx="12192000" cy="776700"/>
          </a:xfrm>
          <a:prstGeom prst="rect">
            <a:avLst/>
          </a:prstGeom>
          <a:solidFill>
            <a:srgbClr val="2D714C"/>
          </a:solidFill>
          <a:ln cap="flat" cmpd="sng" w="19050">
            <a:solidFill>
              <a:srgbClr val="2D714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Conclusions and Future Scope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518a5f925a_0_11"/>
          <p:cNvSpPr txBox="1"/>
          <p:nvPr/>
        </p:nvSpPr>
        <p:spPr>
          <a:xfrm>
            <a:off x="217950" y="988025"/>
            <a:ext cx="11769000" cy="45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We have successfully implemented a </a:t>
            </a:r>
            <a:r>
              <a:rPr b="1" lang="en-US" sz="1600">
                <a:solidFill>
                  <a:schemeClr val="dk1"/>
                </a:solidFill>
              </a:rPr>
              <a:t>basic RAG (Retrieval-Augmented Generation) pipeline</a:t>
            </a:r>
            <a:r>
              <a:rPr lang="en-US" sz="1600">
                <a:solidFill>
                  <a:schemeClr val="dk1"/>
                </a:solidFill>
              </a:rPr>
              <a:t> capable of generating contextually relevant responses.</a:t>
            </a:r>
            <a:br>
              <a:rPr lang="en-US" sz="1600">
                <a:solidFill>
                  <a:schemeClr val="dk1"/>
                </a:solidFill>
              </a:rPr>
            </a:br>
            <a:r>
              <a:rPr b="1" lang="en-US" sz="1600">
                <a:solidFill>
                  <a:schemeClr val="dk1"/>
                </a:solidFill>
              </a:rPr>
              <a:t>Generated Responses</a:t>
            </a:r>
            <a:r>
              <a:rPr lang="en-US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The responses maintain the </a:t>
            </a:r>
            <a:r>
              <a:rPr b="1" lang="en-US" sz="1600">
                <a:solidFill>
                  <a:schemeClr val="dk1"/>
                </a:solidFill>
              </a:rPr>
              <a:t>same semantic context</a:t>
            </a:r>
            <a:r>
              <a:rPr lang="en-US" sz="1600">
                <a:solidFill>
                  <a:schemeClr val="dk1"/>
                </a:solidFill>
              </a:rPr>
              <a:t> as the answers in the dataset.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However, </a:t>
            </a:r>
            <a:r>
              <a:rPr b="1" lang="en-US" sz="1600">
                <a:solidFill>
                  <a:schemeClr val="dk1"/>
                </a:solidFill>
              </a:rPr>
              <a:t>differences in sentence structure</a:t>
            </a:r>
            <a:r>
              <a:rPr lang="en-US" sz="1600">
                <a:solidFill>
                  <a:schemeClr val="dk1"/>
                </a:solidFill>
              </a:rPr>
              <a:t> were observed, affecting evaluation metrics like </a:t>
            </a:r>
            <a:r>
              <a:rPr b="1" lang="en-US" sz="1600">
                <a:solidFill>
                  <a:schemeClr val="dk1"/>
                </a:solidFill>
              </a:rPr>
              <a:t>ROUGE scores</a:t>
            </a:r>
            <a:r>
              <a:rPr lang="en-US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Challenges Faced</a:t>
            </a:r>
            <a:r>
              <a:rPr lang="en-US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Fine-tuning</a:t>
            </a:r>
            <a:r>
              <a:rPr lang="en-US" sz="1600">
                <a:solidFill>
                  <a:schemeClr val="dk1"/>
                </a:solidFill>
              </a:rPr>
              <a:t> the model to improve coherence and structure is necessary but </a:t>
            </a:r>
            <a:r>
              <a:rPr b="1" lang="en-US" sz="1600">
                <a:solidFill>
                  <a:schemeClr val="dk1"/>
                </a:solidFill>
              </a:rPr>
              <a:t>resource-intensive</a:t>
            </a:r>
            <a:r>
              <a:rPr lang="en-US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When working with </a:t>
            </a:r>
            <a:r>
              <a:rPr b="1" lang="en-US" sz="1600">
                <a:solidFill>
                  <a:schemeClr val="dk1"/>
                </a:solidFill>
              </a:rPr>
              <a:t>course documents</a:t>
            </a:r>
            <a:r>
              <a:rPr lang="en-US" sz="1600">
                <a:solidFill>
                  <a:schemeClr val="dk1"/>
                </a:solidFill>
              </a:rPr>
              <a:t>, we encountered: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-US" sz="1600">
                <a:solidFill>
                  <a:schemeClr val="dk1"/>
                </a:solidFill>
              </a:rPr>
              <a:t>Varying file formats</a:t>
            </a:r>
            <a:r>
              <a:rPr lang="en-US" sz="1600">
                <a:solidFill>
                  <a:schemeClr val="dk1"/>
                </a:solidFill>
              </a:rPr>
              <a:t> (PDFs, DOCX, etc.)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Presence of </a:t>
            </a:r>
            <a:r>
              <a:rPr b="1" lang="en-US" sz="1600">
                <a:solidFill>
                  <a:schemeClr val="dk1"/>
                </a:solidFill>
              </a:rPr>
              <a:t>unknown/special characters</a:t>
            </a:r>
            <a:r>
              <a:rPr lang="en-US" sz="1600">
                <a:solidFill>
                  <a:schemeClr val="dk1"/>
                </a:solidFill>
              </a:rPr>
              <a:t> after cleaning, which degraded retrieval and generation performance.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Key Takeaway</a:t>
            </a:r>
            <a:r>
              <a:rPr lang="en-US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The RAG system demonstrates strong </a:t>
            </a:r>
            <a:r>
              <a:rPr b="1" lang="en-US" sz="1600">
                <a:solidFill>
                  <a:schemeClr val="dk1"/>
                </a:solidFill>
              </a:rPr>
              <a:t>contextual understanding</a:t>
            </a:r>
            <a:r>
              <a:rPr lang="en-US" sz="1600">
                <a:solidFill>
                  <a:schemeClr val="dk1"/>
                </a:solidFill>
              </a:rPr>
              <a:t> and </a:t>
            </a:r>
            <a:r>
              <a:rPr b="1" lang="en-US" sz="1600">
                <a:solidFill>
                  <a:schemeClr val="dk1"/>
                </a:solidFill>
              </a:rPr>
              <a:t>relevance in responses</a:t>
            </a:r>
            <a:r>
              <a:rPr lang="en-US" sz="1600">
                <a:solidFill>
                  <a:schemeClr val="dk1"/>
                </a:solidFill>
              </a:rPr>
              <a:t>, but </a:t>
            </a:r>
            <a:r>
              <a:rPr b="1" lang="en-US" sz="1600">
                <a:solidFill>
                  <a:schemeClr val="dk1"/>
                </a:solidFill>
              </a:rPr>
              <a:t>requires additional optimization</a:t>
            </a:r>
            <a:r>
              <a:rPr lang="en-US" sz="1600">
                <a:solidFill>
                  <a:schemeClr val="dk1"/>
                </a:solidFill>
              </a:rPr>
              <a:t>—especially in </a:t>
            </a:r>
            <a:r>
              <a:rPr b="1" lang="en-US" sz="1600">
                <a:solidFill>
                  <a:schemeClr val="dk1"/>
                </a:solidFill>
              </a:rPr>
              <a:t>text cleaning and fine-tuning</a:t>
            </a:r>
            <a:r>
              <a:rPr lang="en-US" sz="1600">
                <a:solidFill>
                  <a:schemeClr val="dk1"/>
                </a:solidFill>
              </a:rPr>
              <a:t>—to achieve robust performance across custom datasets.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6"/>
          <p:cNvSpPr/>
          <p:nvPr/>
        </p:nvSpPr>
        <p:spPr>
          <a:xfrm>
            <a:off x="-1" y="1"/>
            <a:ext cx="12192000" cy="776700"/>
          </a:xfrm>
          <a:prstGeom prst="rect">
            <a:avLst/>
          </a:prstGeom>
          <a:solidFill>
            <a:srgbClr val="2D714C"/>
          </a:solidFill>
          <a:ln cap="flat" cmpd="sng" w="19050">
            <a:solidFill>
              <a:srgbClr val="2D714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, icon&#10;&#10;Description automatically generated" id="156" name="Google Shape;15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8556" y="5694556"/>
            <a:ext cx="1163444" cy="116344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6"/>
          <p:cNvSpPr txBox="1"/>
          <p:nvPr/>
        </p:nvSpPr>
        <p:spPr>
          <a:xfrm>
            <a:off x="763617" y="1167227"/>
            <a:ext cx="9943800" cy="4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Evaluating the Efficacy of Open-Source LLMs in Enterprise-Specific RAG Systems </a:t>
            </a:r>
            <a:r>
              <a:rPr lang="en-US" sz="1600" u="sng">
                <a:solidFill>
                  <a:schemeClr val="hlink"/>
                </a:solidFill>
                <a:hlinkClick r:id="rId4"/>
              </a:rPr>
              <a:t>https://arxiv.org/abs/2406.11424</a:t>
            </a:r>
            <a:endParaRPr sz="1600"/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Retrieval-Augmented Generation for Knowledge-Intensive NLP Tasks:</a:t>
            </a:r>
            <a:r>
              <a:rPr lang="en-US" sz="1600"/>
              <a:t> </a:t>
            </a:r>
            <a:r>
              <a:rPr lang="en-US" sz="1600" u="sng">
                <a:solidFill>
                  <a:schemeClr val="hlink"/>
                </a:solidFill>
                <a:hlinkClick r:id="rId5"/>
              </a:rPr>
              <a:t>https://arxiv.org/abs/2005.11401</a:t>
            </a:r>
            <a:r>
              <a:rPr lang="en-US" sz="1600"/>
              <a:t>   </a:t>
            </a:r>
            <a:endParaRPr sz="1600"/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Design and Implementation of an Interactive Question-Answering System with Retrieval Augmented Generation for Personalized Databases:</a:t>
            </a:r>
            <a:r>
              <a:rPr lang="en-US" sz="1600"/>
              <a:t> </a:t>
            </a:r>
            <a:r>
              <a:rPr lang="en-US" sz="1600" u="sng">
                <a:solidFill>
                  <a:schemeClr val="hlink"/>
                </a:solidFill>
                <a:hlinkClick r:id="rId6"/>
              </a:rPr>
              <a:t>https://www.mdpi.com/2076-3417/14/17/7995</a:t>
            </a:r>
            <a:r>
              <a:rPr lang="en-US" sz="1600"/>
              <a:t>   </a:t>
            </a:r>
            <a:endParaRPr sz="1600"/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RAG based Question-Answering for Contextual Response Prediction System: </a:t>
            </a:r>
            <a:r>
              <a:rPr lang="en-US" sz="1600" u="sng">
                <a:solidFill>
                  <a:schemeClr val="hlink"/>
                </a:solidFill>
                <a:hlinkClick r:id="rId7"/>
              </a:rPr>
              <a:t>https://arxiv.org/abs/2409.03708</a:t>
            </a:r>
            <a:r>
              <a:rPr lang="en-US" sz="1600"/>
              <a:t>   </a:t>
            </a:r>
            <a:endParaRPr sz="1600"/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Know Your RAG: Dataset Taxonomy and Generation Strategies for Evaluating RAG Systems </a:t>
            </a:r>
            <a:r>
              <a:rPr lang="en-US" sz="1600" u="sng">
                <a:solidFill>
                  <a:schemeClr val="hlink"/>
                </a:solidFill>
                <a:hlinkClick r:id="rId8"/>
              </a:rPr>
              <a:t>https://arxiv.org/abs/2411.19710</a:t>
            </a:r>
            <a:r>
              <a:rPr lang="en-US" sz="1600"/>
              <a:t>  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714C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914400" y="1147481"/>
            <a:ext cx="4244400" cy="253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Questions</a:t>
            </a:r>
            <a:endParaRPr/>
          </a:p>
        </p:txBody>
      </p:sp>
      <p:pic>
        <p:nvPicPr>
          <p:cNvPr descr="Logo, icon&#10;&#10;Description automatically generated" id="164" name="Google Shape;16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4324" y="5690237"/>
            <a:ext cx="1163444" cy="116344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8"/>
          <p:cNvSpPr/>
          <p:nvPr/>
        </p:nvSpPr>
        <p:spPr>
          <a:xfrm>
            <a:off x="6813754" y="1295399"/>
            <a:ext cx="4463700" cy="4267200"/>
          </a:xfrm>
          <a:prstGeom prst="flowChartConnector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8322842" y="1843949"/>
            <a:ext cx="1445700" cy="3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b="1" i="0" lang="en-US" sz="20000" u="none" cap="none" strike="noStrike">
                <a:solidFill>
                  <a:srgbClr val="2D714C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2025-01-27T04:36:00Z</dcterms:created>
  <dc:creator>Sasanapuri, Lohith</dc:creator>
</cp:coreProperties>
</file>